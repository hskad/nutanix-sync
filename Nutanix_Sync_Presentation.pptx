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3B00"/>
                </a:solidFill>
                <a:latin typeface="Arial"/>
              </a:defRPr>
            </a:pPr>
            <a:r>
              <a:t>SYS.SPEC // 02 — DISTRIBUTED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5F6F8"/>
                </a:solidFill>
                <a:latin typeface="Georgia"/>
              </a:defRPr>
            </a:pPr>
            <a:r>
              <a:t>Nutanix—Sync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5F6F8"/>
                </a:solidFill>
                <a:latin typeface="Arial"/>
              </a:defRPr>
            </a:pPr>
            <a:r>
              <a:t>Distributed Cluster File Synchronization Fabric</a:t>
            </a:r>
          </a:p>
          <a:p>
            <a:pPr>
              <a:defRPr sz="1400">
                <a:solidFill>
                  <a:srgbClr val="8B929E"/>
                </a:solidFill>
                <a:latin typeface="Arial"/>
              </a:defRPr>
            </a:pPr>
            <a:r>
              <a:t>Scaling from 2-Machine Baseline to 100+ Nodes via Merkle Swarms &amp; Epidemic Gossip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29E"/>
                </a:solidFill>
                <a:latin typeface="Arial"/>
              </a:defRPr>
            </a:pPr>
            <a:r>
              <a:t>Nutanix Hackathon 2026  •  IIT Guwahati  •  Topic 2: Multi-Machine Cluster File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B00"/>
                </a:solidFill>
                <a:latin typeface="Arial"/>
              </a:defRPr>
            </a:pPr>
            <a:r>
              <a:t>THE CHALLENGE AT ENTERPRISE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6F8"/>
                </a:solidFill>
                <a:latin typeface="Arial"/>
              </a:defRPr>
            </a:pPr>
            <a:r>
              <a:t>Why Naive Cluster Syncing Breaks at 100+ Machines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84048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3B00"/>
                </a:solidFill>
                <a:latin typeface="Arial"/>
              </a:defRPr>
            </a:pPr>
            <a:r>
              <a:t>01 / Egress Saturation</a:t>
            </a:r>
          </a:p>
          <a:p>
            <a:br/>
            <a:pPr>
              <a:defRPr sz="1300">
                <a:solidFill>
                  <a:srgbClr val="8B929E"/>
                </a:solidFill>
                <a:latin typeface="Arial"/>
              </a:defRPr>
            </a:pPr>
            <a:r>
              <a:t>Modifying 100 bytes in a 100MB database or log file re-transmits the entire 100MB over the wire, wasting 99.9% network bandwidth.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383280" cy="384048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3B00"/>
                </a:solidFill>
                <a:latin typeface="Arial"/>
              </a:defRPr>
            </a:pPr>
            <a:r>
              <a:t>02 / O(N²) Broadcast Storms</a:t>
            </a:r>
          </a:p>
          <a:p>
            <a:br/>
            <a:pPr>
              <a:defRPr sz="1300">
                <a:solidFill>
                  <a:srgbClr val="8B929E"/>
                </a:solidFill>
                <a:latin typeface="Arial"/>
              </a:defRPr>
            </a:pPr>
            <a:r>
              <a:t>Centralized master-replica sync turns publisher nodes into single points of failure (SPOF) and collapses cluster network switch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011680"/>
            <a:ext cx="3383280" cy="384048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3B00"/>
                </a:solidFill>
                <a:latin typeface="Arial"/>
              </a:defRPr>
            </a:pPr>
            <a:r>
              <a:t>03 / Silent Data Corruption</a:t>
            </a:r>
          </a:p>
          <a:p>
            <a:br/>
            <a:pPr>
              <a:defRPr sz="1300">
                <a:solidFill>
                  <a:srgbClr val="8B929E"/>
                </a:solidFill>
                <a:latin typeface="Arial"/>
              </a:defRPr>
            </a:pPr>
            <a:r>
              <a:t>Asynchronous network partitions result in concurrent writes. Standard sync tools perform destructive Last-Writer-Wins overwrites.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B00"/>
                </a:solidFill>
                <a:latin typeface="Arial"/>
              </a:defRPr>
            </a:pPr>
            <a:r>
              <a:t>ARCHITECTURE &amp; ENGINEERING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6F8"/>
                </a:solidFill>
                <a:latin typeface="Arial"/>
              </a:defRPr>
            </a:pPr>
            <a:r>
              <a:t>Four Core Innovations Powering Nutanix-Sync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212080" cy="182880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6F8"/>
                </a:solidFill>
                <a:latin typeface="Arial"/>
              </a:defRPr>
            </a:pPr>
            <a:r>
              <a:t>1. Content Chunking &amp; Merkle Trees</a:t>
            </a:r>
          </a:p>
          <a:p>
            <a:pPr>
              <a:defRPr sz="1200">
                <a:solidFill>
                  <a:srgbClr val="8B929E"/>
                </a:solidFill>
                <a:latin typeface="Arial"/>
              </a:defRPr>
            </a:pPr>
            <a:r>
              <a:t>Files sliced into 64KB chunks. Hierarchical directory hash trees isolate changed bytes in O(log M)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212080" cy="182880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6F8"/>
                </a:solidFill>
                <a:latin typeface="Arial"/>
              </a:defRPr>
            </a:pPr>
            <a:r>
              <a:t>2. SWIM Epidemic Gossip Protocol</a:t>
            </a:r>
          </a:p>
          <a:p>
            <a:pPr>
              <a:defRPr sz="1200">
                <a:solidFill>
                  <a:srgbClr val="8B929E"/>
                </a:solidFill>
                <a:latin typeface="Arial"/>
              </a:defRPr>
            </a:pPr>
            <a:r>
              <a:t>Decentralized membership discovery &amp; failure detector. Reaches cluster-wide consistency in O(log N) rounds.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212080" cy="182880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6F8"/>
                </a:solidFill>
                <a:latin typeface="Arial"/>
              </a:defRPr>
            </a:pPr>
            <a:r>
              <a:t>3. P2P Swarm Chunk Distribution</a:t>
            </a:r>
          </a:p>
          <a:p>
            <a:pPr>
              <a:defRPr sz="1200">
                <a:solidFill>
                  <a:srgbClr val="8B929E"/>
                </a:solidFill>
                <a:latin typeface="Arial"/>
              </a:defRPr>
            </a:pPr>
            <a:r>
              <a:t>BitTorrent-inspired swarm distribution pulls chunks concurrently across peers holding blocks, eliminating single-publisher bottlenecks.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14800"/>
            <a:ext cx="5212080" cy="182880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3434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6F8"/>
                </a:solidFill>
                <a:latin typeface="Arial"/>
              </a:defRPr>
            </a:pPr>
            <a:r>
              <a:t>4. Vector Clock Causality Engine</a:t>
            </a:r>
          </a:p>
          <a:p>
            <a:pPr>
              <a:defRPr sz="1200">
                <a:solidFill>
                  <a:srgbClr val="8B929E"/>
                </a:solidFill>
                <a:latin typeface="Arial"/>
              </a:defRPr>
            </a:pPr>
            <a:r>
              <a:t>Tracks causal partial ordering. Flags split-brain conflicts and preserves non-destructive branches with zero data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B00"/>
                </a:solidFill>
                <a:latin typeface="Arial"/>
              </a:defRPr>
            </a:pPr>
            <a:r>
              <a:t>PHYSICAL PERFORMANCE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6F8"/>
                </a:solidFill>
                <a:latin typeface="Arial"/>
              </a:defRPr>
            </a:pPr>
            <a:r>
              <a:t>Quantitative Benchmark: 97.9% Bandwidth Reduction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7772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256032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Benchmark Metric</a:t>
                      </a:r>
                    </a:p>
                  </a:txBody>
                  <a:tcPr>
                    <a:solidFill>
                      <a:srgbClr val="2226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Naive Full Sync</a:t>
                      </a:r>
                    </a:p>
                  </a:txBody>
                  <a:tcPr>
                    <a:solidFill>
                      <a:srgbClr val="2226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Nutanix-Sync Delta Sync</a:t>
                      </a:r>
                    </a:p>
                  </a:txBody>
                  <a:tcPr>
                    <a:solidFill>
                      <a:srgbClr val="2226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Total File Size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3.00 MB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3B00"/>
                          </a:solidFill>
                          <a:latin typeface="Arial"/>
                        </a:defRPr>
                      </a:pPr>
                      <a:r>
                        <a:t>3.00 MB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Modified Payload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3B00"/>
                          </a:solidFill>
                          <a:latin typeface="Arial"/>
                        </a:defRPr>
                      </a:pPr>
                      <a:r>
                        <a:t>58 Bytes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Wire Traffic Egress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128.00 KB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3B00"/>
                          </a:solidFill>
                          <a:latin typeface="Arial"/>
                        </a:defRPr>
                      </a:pPr>
                      <a:r>
                        <a:t>64.00 KB (1 chunk)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Bandwidth Saved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0 B (0.0%)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3B00"/>
                          </a:solidFill>
                          <a:latin typeface="Arial"/>
                        </a:defRPr>
                      </a:pPr>
                      <a:r>
                        <a:t>2.94 MB (97.92% saved)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Data Integrity Verification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6F8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3B00"/>
                          </a:solidFill>
                          <a:latin typeface="Arial"/>
                        </a:defRPr>
                      </a:pPr>
                      <a:r>
                        <a:t>Bit-for-Bit SHA-256 Match</a:t>
                      </a:r>
                    </a:p>
                  </a:txBody>
                  <a:tcPr>
                    <a:solidFill>
                      <a:srgbClr val="13161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778240" y="2011680"/>
            <a:ext cx="2651760" cy="3840480"/>
          </a:xfrm>
          <a:prstGeom prst="rect">
            <a:avLst/>
          </a:prstGeom>
          <a:solidFill>
            <a:srgbClr val="13161C"/>
          </a:solidFill>
          <a:ln>
            <a:solidFill>
              <a:srgbClr val="FF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21945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3B00"/>
                </a:solidFill>
              </a:defRPr>
            </a:pPr>
            <a:r>
              <a:t>TAKEAWAY</a:t>
            </a:r>
          </a:p>
          <a:p>
            <a:br/>
            <a:pPr>
              <a:defRPr sz="1200">
                <a:solidFill>
                  <a:srgbClr val="F5F6F8"/>
                </a:solidFill>
              </a:defRPr>
            </a:pPr>
            <a:r>
              <a:t>By decomposing files into 64KB content blocks, modifying a line inside a large file transfers ONLY the single modified chunk.</a:t>
            </a:r>
            <a:br/>
            <a:br/>
            <a:r>
              <a:t>Results scale to 100MB+ enterprise datasets with &gt;99% wire reduction.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B00"/>
                </a:solidFill>
                <a:latin typeface="Arial"/>
              </a:defRPr>
            </a:pPr>
            <a:r>
              <a:t>DEMONSTRATION &amp; VERIFICATION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6F8"/>
                </a:solidFill>
                <a:latin typeface="Arial"/>
              </a:defRPr>
            </a:pPr>
            <a:r>
              <a:t>Ground-Truth Physical Sync + Cluster Telemetry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212080" cy="384048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3B00"/>
                </a:solidFill>
                <a:latin typeface="Arial"/>
              </a:defRPr>
            </a:pPr>
            <a:r>
              <a:t>Part 1: Physical 2-Node Live Sync</a:t>
            </a:r>
          </a:p>
          <a:p>
            <a:br/>
            <a:pPr>
              <a:defRPr sz="1300">
                <a:solidFill>
                  <a:srgbClr val="F5F6F8"/>
                </a:solidFill>
                <a:latin typeface="Arial"/>
              </a:defRPr>
            </a:pPr>
            <a:r>
              <a:t>• Real OS filesystem watcher (`watchdog`) monitoring disk.</a:t>
            </a:r>
            <a:br/>
            <a:r>
              <a:t>• Sub-50ms propagation between physical folders (`folder_a` → `folder_b`).</a:t>
            </a:r>
            <a:br/>
            <a:r>
              <a:t>• Interactive Terminal TUI displaying live gossip peers, chunks, and vector clocks in real time.</a:t>
            </a:r>
            <a:br/>
            <a:r>
              <a:t>• Standalone benchmark script (`benchmark_delta.py`) measuring disk I/O.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212080" cy="384048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6F8"/>
                </a:solidFill>
                <a:latin typeface="Arial"/>
              </a:defRPr>
            </a:pPr>
            <a:r>
              <a:t>Part 2: Scalable Cluster Telemetry (50+ Nodes)</a:t>
            </a:r>
          </a:p>
          <a:p>
            <a:br/>
            <a:pPr>
              <a:defRPr sz="1300">
                <a:solidFill>
                  <a:srgbClr val="F5F6F8"/>
                </a:solidFill>
                <a:latin typeface="Arial"/>
              </a:defRPr>
            </a:pPr>
            <a:r>
              <a:t>• Interactive architectural schematic canvas showing decentralized gossip mesh.</a:t>
            </a:r>
            <a:br/>
            <a:r>
              <a:t>• Real-time Merkle consistency verification across 50 simulated cluster nodes.</a:t>
            </a:r>
            <a:br/>
            <a:r>
              <a:t>• Non-destructive split-brain conflict isolation under network partition.</a:t>
            </a:r>
            <a:br/>
            <a:r>
              <a:t>• Chaos fault injection: severed node recovery and catch-up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B00"/>
                </a:solidFill>
                <a:latin typeface="Arial"/>
              </a:defRPr>
            </a:pPr>
            <a:r>
              <a:t>SUMMARY &amp; ENTERPRISE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6F8"/>
                </a:solidFill>
                <a:latin typeface="Arial"/>
              </a:defRPr>
            </a:pPr>
            <a:r>
              <a:t>Hyperconverged File Resilience with Enterprise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2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728655" cy="109728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Arial"/>
              </a:defRPr>
            </a:pPr>
            <a:r>
              <a:t>Alignment with Nutanix AOS &amp; Files</a:t>
            </a:r>
          </a:p>
          <a:p>
            <a:pPr>
              <a:defRPr sz="1200">
                <a:solidFill>
                  <a:srgbClr val="F5F6F8"/>
                </a:solidFill>
                <a:latin typeface="Arial"/>
              </a:defRPr>
            </a:pPr>
            <a:r>
              <a:t>Solves the core distributed storage challenge: bandwidth-efficient edge-to-core replication and multi-datacenter data consistency without single points of failure.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10728655" cy="109728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Arial"/>
              </a:defRPr>
            </a:pPr>
            <a:r>
              <a:t>Verified &amp; Fully Tested</a:t>
            </a:r>
          </a:p>
          <a:p>
            <a:pPr>
              <a:defRPr sz="1200">
                <a:solidFill>
                  <a:srgbClr val="F5F6F8"/>
                </a:solidFill>
                <a:latin typeface="Arial"/>
              </a:defRPr>
            </a:pPr>
            <a:r>
              <a:t>7 automated test suites execute in &lt;7 seconds, confirming unit chunking, Vector Clock partial ordering, and 20-node cluster convergence.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728655" cy="1097280"/>
          </a:xfrm>
          <a:prstGeom prst="rect">
            <a:avLst/>
          </a:prstGeom>
          <a:solidFill>
            <a:srgbClr val="13161C"/>
          </a:solidFill>
          <a:ln>
            <a:solidFill>
              <a:srgbClr val="22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Arial"/>
              </a:defRPr>
            </a:pPr>
            <a:r>
              <a:t>Open-Source Codebase</a:t>
            </a:r>
          </a:p>
          <a:p>
            <a:pPr>
              <a:defRPr sz="1200">
                <a:solidFill>
                  <a:srgbClr val="F5F6F8"/>
                </a:solidFill>
                <a:latin typeface="Arial"/>
              </a:defRPr>
            </a:pPr>
            <a:r>
              <a:t>Completely open-source and reproducible with full documentation, tests, and CLI daemons at https://github.com/hskad/nutanix-sync.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