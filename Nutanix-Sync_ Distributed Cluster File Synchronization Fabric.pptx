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bold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bold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39b89675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39b89675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39b89675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a39b89675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39b89675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39b89675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a39b89675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a39b89675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a39b89675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a39b89675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a39b89675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a39b89675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a39b896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a39b896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39b89675_13_0)">
  <p:cSld name="Generated (g3fa39b89675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381000" y="619125"/>
            <a:ext cx="4572000" cy="3810075"/>
            <a:chOff x="381000" y="619125"/>
            <a:chExt cx="4572000" cy="3810075"/>
          </a:xfrm>
        </p:grpSpPr>
        <p:sp>
          <p:nvSpPr>
            <p:cNvPr id="56" name="Google Shape;56;p14"/>
            <p:cNvSpPr/>
            <p:nvPr/>
          </p:nvSpPr>
          <p:spPr>
            <a:xfrm>
              <a:off x="381000" y="619125"/>
              <a:ext cx="571500" cy="38100"/>
            </a:xfrm>
            <a:prstGeom prst="rect">
              <a:avLst/>
            </a:pr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 txBox="1"/>
            <p:nvPr/>
          </p:nvSpPr>
          <p:spPr>
            <a:xfrm>
              <a:off x="381000" y="809625"/>
              <a:ext cx="4572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Nutanix-Sync:</a:t>
              </a:r>
              <a:endParaRPr b="1" sz="3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Distributed Cluster</a:t>
              </a:r>
              <a:endParaRPr b="1" sz="3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File Sync Fabric</a:t>
              </a:r>
              <a:endParaRPr b="1" sz="3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381000" y="2905125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Scaling from a 2-Machine Baseline</a:t>
              </a:r>
              <a:endParaRPr b="0" sz="18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to 100+ Nodes via Merkle Swarms</a:t>
              </a:r>
              <a:endParaRPr b="0" sz="18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&amp; Epidemic Gossip.</a:t>
              </a:r>
              <a:endParaRPr b="0" sz="18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381000" y="4000500"/>
              <a:ext cx="457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Presented </a:t>
              </a:r>
              <a:r>
                <a:rPr lang="en" sz="1100">
                  <a:solidFill>
                    <a:srgbClr val="4D4D4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team </a:t>
              </a:r>
              <a:r>
                <a:rPr b="1" lang="en" sz="11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Deep Learners</a:t>
              </a:r>
              <a:endParaRPr b="0" sz="1100">
                <a:solidFill>
                  <a:srgbClr val="4D4D4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200650" y="895350"/>
            <a:ext cx="3619500" cy="3676725"/>
            <a:chOff x="5200650" y="895350"/>
            <a:chExt cx="3619500" cy="3676725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43738" y="1328738"/>
              <a:ext cx="1100100" cy="80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15250" y="2119313"/>
              <a:ext cx="423900" cy="12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57938" y="3376613"/>
              <a:ext cx="1366800" cy="4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53125" y="2109788"/>
              <a:ext cx="423900" cy="12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7888" y="1323975"/>
              <a:ext cx="1100100" cy="80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38975" y="1328738"/>
              <a:ext cx="705000" cy="209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53175" y="1328738"/>
              <a:ext cx="705000" cy="20955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8" name="Google Shape;68;p14"/>
            <p:cNvCxnSpPr/>
            <p:nvPr/>
          </p:nvCxnSpPr>
          <p:spPr>
            <a:xfrm>
              <a:off x="5962650" y="2124075"/>
              <a:ext cx="1762200" cy="1276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14"/>
            <p:cNvSpPr/>
            <p:nvPr/>
          </p:nvSpPr>
          <p:spPr>
            <a:xfrm>
              <a:off x="6896100" y="1143000"/>
              <a:ext cx="304800" cy="381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" name="Google Shape;70;p14"/>
            <p:cNvGrpSpPr/>
            <p:nvPr/>
          </p:nvGrpSpPr>
          <p:grpSpPr>
            <a:xfrm>
              <a:off x="6896100" y="1143000"/>
              <a:ext cx="304800" cy="381000"/>
              <a:chOff x="0" y="0"/>
              <a:chExt cx="304800" cy="381000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2" name="Google Shape;72;p14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4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4" name="Google Shape;74;p14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" name="Google Shape;75;p14"/>
            <p:cNvSpPr/>
            <p:nvPr/>
          </p:nvSpPr>
          <p:spPr>
            <a:xfrm>
              <a:off x="7981950" y="1933575"/>
              <a:ext cx="304800" cy="381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" name="Google Shape;76;p14"/>
            <p:cNvGrpSpPr/>
            <p:nvPr/>
          </p:nvGrpSpPr>
          <p:grpSpPr>
            <a:xfrm>
              <a:off x="7981950" y="1933575"/>
              <a:ext cx="304800" cy="381000"/>
              <a:chOff x="0" y="0"/>
              <a:chExt cx="304800" cy="381000"/>
            </a:xfrm>
          </p:grpSpPr>
          <p:sp>
            <p:nvSpPr>
              <p:cNvPr id="77" name="Google Shape;77;p14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8" name="Google Shape;78;p14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" name="Google Shape;79;p14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0" name="Google Shape;80;p14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" name="Google Shape;81;p14"/>
            <p:cNvSpPr/>
            <p:nvPr/>
          </p:nvSpPr>
          <p:spPr>
            <a:xfrm>
              <a:off x="7572375" y="3209925"/>
              <a:ext cx="304800" cy="381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572375" y="3209925"/>
              <a:ext cx="304800" cy="381000"/>
              <a:chOff x="0" y="0"/>
              <a:chExt cx="304800" cy="381000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4" name="Google Shape;84;p14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4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14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" name="Google Shape;87;p14"/>
            <p:cNvSpPr/>
            <p:nvPr/>
          </p:nvSpPr>
          <p:spPr>
            <a:xfrm>
              <a:off x="6219825" y="3209925"/>
              <a:ext cx="304800" cy="381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" name="Google Shape;88;p14"/>
            <p:cNvGrpSpPr/>
            <p:nvPr/>
          </p:nvGrpSpPr>
          <p:grpSpPr>
            <a:xfrm>
              <a:off x="6219825" y="3209925"/>
              <a:ext cx="304800" cy="381000"/>
              <a:chOff x="0" y="0"/>
              <a:chExt cx="304800" cy="381000"/>
            </a:xfrm>
          </p:grpSpPr>
          <p:sp>
            <p:nvSpPr>
              <p:cNvPr id="89" name="Google Shape;89;p14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0" name="Google Shape;90;p14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14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2" name="Google Shape;92;p14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" name="Google Shape;93;p14"/>
            <p:cNvSpPr/>
            <p:nvPr/>
          </p:nvSpPr>
          <p:spPr>
            <a:xfrm>
              <a:off x="5810250" y="1933575"/>
              <a:ext cx="304800" cy="381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" name="Google Shape;94;p14"/>
            <p:cNvGrpSpPr/>
            <p:nvPr/>
          </p:nvGrpSpPr>
          <p:grpSpPr>
            <a:xfrm>
              <a:off x="5810250" y="1933575"/>
              <a:ext cx="304800" cy="381000"/>
              <a:chOff x="0" y="0"/>
              <a:chExt cx="304800" cy="381000"/>
            </a:xfrm>
          </p:grpSpPr>
          <p:sp>
            <p:nvSpPr>
              <p:cNvPr id="95" name="Google Shape;95;p14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6" name="Google Shape;96;p14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4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8" name="Google Shape;98;p14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14"/>
            <p:cNvSpPr txBox="1"/>
            <p:nvPr/>
          </p:nvSpPr>
          <p:spPr>
            <a:xfrm>
              <a:off x="6667500" y="89535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node-01</a:t>
              </a:r>
              <a:endParaRPr b="0" sz="100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8058150" y="17145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node-02</a:t>
              </a:r>
              <a:endParaRPr b="0" sz="100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7677150" y="363855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node-03</a:t>
              </a:r>
              <a:endParaRPr b="0" sz="100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5867400" y="363855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node-04</a:t>
              </a:r>
              <a:endParaRPr b="0" sz="100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5200650" y="17145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node-05</a:t>
              </a:r>
              <a:endParaRPr b="0" sz="100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5619750" y="4143375"/>
              <a:ext cx="2857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D4D4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DECENTRALIZED SWARM TOPOLOGY</a:t>
              </a:r>
              <a:endParaRPr b="1" sz="900">
                <a:solidFill>
                  <a:srgbClr val="4D4D4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Epidemic Gossip &amp; Merkle-Tree State Sync</a:t>
              </a:r>
              <a:endParaRPr b="0" sz="9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381000" y="285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Naive Synchronization Bottlenecks</a:t>
            </a:r>
            <a:endParaRPr b="1" sz="2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381000" y="1047750"/>
            <a:ext cx="2600400" cy="3095625"/>
            <a:chOff x="381000" y="1047750"/>
            <a:chExt cx="2600400" cy="3095625"/>
          </a:xfrm>
        </p:grpSpPr>
        <p:sp>
          <p:nvSpPr>
            <p:cNvPr id="111" name="Google Shape;111;p15"/>
            <p:cNvSpPr/>
            <p:nvPr/>
          </p:nvSpPr>
          <p:spPr>
            <a:xfrm>
              <a:off x="381000" y="1047750"/>
              <a:ext cx="2600400" cy="1047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523875" y="1285875"/>
              <a:ext cx="571500" cy="5715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523875" y="12858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File</a:t>
              </a:r>
              <a:endParaRPr b="1" sz="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100MB</a:t>
              </a:r>
              <a:endParaRPr b="1" sz="800">
                <a:solidFill>
                  <a:srgbClr val="4EBE4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857250" y="1190625"/>
              <a:ext cx="333300" cy="142800"/>
            </a:xfrm>
            <a:prstGeom prst="roundRect">
              <a:avLst>
                <a:gd fmla="val 13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857250" y="1190625"/>
              <a:ext cx="3333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+100B</a:t>
              </a:r>
              <a:endParaRPr b="1" sz="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1238250" y="1571625"/>
              <a:ext cx="4287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4EBE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590675" y="1524000"/>
              <a:ext cx="76200" cy="954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1190625" y="1381125"/>
              <a:ext cx="523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triggers</a:t>
              </a:r>
              <a:endParaRPr sz="7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809750" y="1285875"/>
              <a:ext cx="1000200" cy="5715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4EBE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809750" y="1285875"/>
              <a:ext cx="1000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Egress Saturation</a:t>
              </a:r>
              <a:endParaRPr b="1" sz="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100MB Wire</a:t>
              </a:r>
              <a:endParaRPr b="1" sz="900">
                <a:solidFill>
                  <a:srgbClr val="4EBE4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381000" y="2238375"/>
              <a:ext cx="2600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1. Network Egress Saturation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Occurs when a simple </a:t>
              </a:r>
              <a:r>
                <a:rPr b="1" lang="en" sz="11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100-byte edit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forces a complete redistribution of the entire </a:t>
              </a:r>
              <a:r>
                <a:rPr b="1" lang="en" sz="11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100MB file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over the wire.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The lack of delta-based differential propagation forces complete file uploads, wasting massive link capacity.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3267075" y="1047750"/>
            <a:ext cx="2600400" cy="3095625"/>
            <a:chOff x="3267075" y="1047750"/>
            <a:chExt cx="2600400" cy="3095625"/>
          </a:xfrm>
        </p:grpSpPr>
        <p:sp>
          <p:nvSpPr>
            <p:cNvPr id="123" name="Google Shape;123;p15"/>
            <p:cNvSpPr/>
            <p:nvPr/>
          </p:nvSpPr>
          <p:spPr>
            <a:xfrm>
              <a:off x="3267075" y="1047750"/>
              <a:ext cx="2600400" cy="1047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15"/>
            <p:cNvGrpSpPr/>
            <p:nvPr/>
          </p:nvGrpSpPr>
          <p:grpSpPr>
            <a:xfrm>
              <a:off x="4419600" y="1381125"/>
              <a:ext cx="304800" cy="381000"/>
              <a:chOff x="0" y="0"/>
              <a:chExt cx="304800" cy="381000"/>
            </a:xfrm>
          </p:grpSpPr>
          <p:sp>
            <p:nvSpPr>
              <p:cNvPr id="125" name="Google Shape;125;p15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" name="Google Shape;126;p15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15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8" name="Google Shape;128;p15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" name="Google Shape;129;p15"/>
            <p:cNvSpPr/>
            <p:nvPr/>
          </p:nvSpPr>
          <p:spPr>
            <a:xfrm>
              <a:off x="4229100" y="1095375"/>
              <a:ext cx="685800" cy="142800"/>
            </a:xfrm>
            <a:prstGeom prst="roundRect">
              <a:avLst>
                <a:gd fmla="val 13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4229100" y="1095375"/>
              <a:ext cx="6858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BROADCAST</a:t>
              </a:r>
              <a:endParaRPr b="1" sz="6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3495675" y="1209675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495675" y="1781175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5495925" y="1209675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5495925" y="1781175"/>
              <a:ext cx="152400" cy="1524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714750" y="1333500"/>
              <a:ext cx="619200" cy="142800"/>
            </a:xfrm>
            <a:custGeom>
              <a:rect b="b" l="l" r="r" t="t"/>
              <a:pathLst>
                <a:path extrusionOk="0" fill="none" h="120000" w="120000">
                  <a:moveTo>
                    <a:pt x="120000" y="12000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cap="rnd" cmpd="sng" w="14300">
              <a:solidFill>
                <a:srgbClr val="4EBE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3714750" y="133350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20000"/>
                  </a:lnTo>
                  <a:lnTo>
                    <a:pt x="90000" y="12000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3714750" y="1666875"/>
              <a:ext cx="619200" cy="142800"/>
            </a:xfrm>
            <a:custGeom>
              <a:rect b="b" l="l" r="r" t="t"/>
              <a:pathLst>
                <a:path extrusionOk="0" fill="none" h="120000" w="12000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rnd" cmpd="sng" w="14300">
              <a:solidFill>
                <a:srgbClr val="4EBE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714750" y="175260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90000" y="0"/>
                  </a:lnTo>
                  <a:lnTo>
                    <a:pt x="120000" y="10000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4810125" y="1333500"/>
              <a:ext cx="619200" cy="142800"/>
            </a:xfrm>
            <a:custGeom>
              <a:rect b="b" l="l" r="r" t="t"/>
              <a:pathLst>
                <a:path extrusionOk="0" fill="none" h="120000" w="120000">
                  <a:moveTo>
                    <a:pt x="0" y="12000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14300">
              <a:solidFill>
                <a:srgbClr val="4EBE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5353050" y="133350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30000" y="120000"/>
                  </a:lnTo>
                  <a:lnTo>
                    <a:pt x="0" y="2000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4810125" y="1666875"/>
              <a:ext cx="619200" cy="1428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14300">
              <a:solidFill>
                <a:srgbClr val="4EBE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5353050" y="175260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0" y="100000"/>
                  </a:lnTo>
                  <a:lnTo>
                    <a:pt x="30000" y="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4095750" y="18383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100 Nodes</a:t>
              </a:r>
              <a:endParaRPr b="1" sz="800">
                <a:solidFill>
                  <a:srgbClr val="4EBE4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3267075" y="2238375"/>
              <a:ext cx="2600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2. O(N²) Broadcast Storm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Central unicast architectures create severe central bottlenecks. When updating a </a:t>
              </a:r>
              <a:r>
                <a:rPr b="1" lang="en" sz="11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100-node cluster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, single-master configurations saturate quickly.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Publisher egress capacity is exhausted, preventing linear scaling and creating major system synchronization delay.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5"/>
          <p:cNvGrpSpPr/>
          <p:nvPr/>
        </p:nvGrpSpPr>
        <p:grpSpPr>
          <a:xfrm>
            <a:off x="6153150" y="1047750"/>
            <a:ext cx="2600400" cy="3095625"/>
            <a:chOff x="6153150" y="1047750"/>
            <a:chExt cx="2600400" cy="3095625"/>
          </a:xfrm>
        </p:grpSpPr>
        <p:sp>
          <p:nvSpPr>
            <p:cNvPr id="146" name="Google Shape;146;p15"/>
            <p:cNvSpPr/>
            <p:nvPr/>
          </p:nvSpPr>
          <p:spPr>
            <a:xfrm>
              <a:off x="6153150" y="1047750"/>
              <a:ext cx="2600400" cy="1047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7" name="Google Shape;147;p15"/>
            <p:cNvGrpSpPr/>
            <p:nvPr/>
          </p:nvGrpSpPr>
          <p:grpSpPr>
            <a:xfrm>
              <a:off x="6477000" y="1381125"/>
              <a:ext cx="304800" cy="381000"/>
              <a:chOff x="0" y="0"/>
              <a:chExt cx="304800" cy="381000"/>
            </a:xfrm>
          </p:grpSpPr>
          <p:sp>
            <p:nvSpPr>
              <p:cNvPr id="148" name="Google Shape;148;p15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9" name="Google Shape;149;p15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15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1" name="Google Shape;151;p15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" name="Google Shape;152;p15"/>
            <p:cNvGrpSpPr/>
            <p:nvPr/>
          </p:nvGrpSpPr>
          <p:grpSpPr>
            <a:xfrm>
              <a:off x="8001000" y="1381125"/>
              <a:ext cx="304800" cy="381000"/>
              <a:chOff x="0" y="0"/>
              <a:chExt cx="304800" cy="381000"/>
            </a:xfrm>
          </p:grpSpPr>
          <p:sp>
            <p:nvSpPr>
              <p:cNvPr id="153" name="Google Shape;153;p15"/>
              <p:cNvSpPr/>
              <p:nvPr/>
            </p:nvSpPr>
            <p:spPr>
              <a:xfrm>
                <a:off x="0" y="0"/>
                <a:ext cx="304800" cy="3810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4" name="Google Shape;154;p15"/>
              <p:cNvCxnSpPr/>
              <p:nvPr/>
            </p:nvCxnSpPr>
            <p:spPr>
              <a:xfrm>
                <a:off x="76200" y="952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15"/>
              <p:cNvCxnSpPr/>
              <p:nvPr/>
            </p:nvCxnSpPr>
            <p:spPr>
              <a:xfrm>
                <a:off x="76200" y="1905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6" name="Google Shape;156;p15"/>
              <p:cNvSpPr/>
              <p:nvPr/>
            </p:nvSpPr>
            <p:spPr>
              <a:xfrm>
                <a:off x="123825" y="257175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" name="Google Shape;157;p15"/>
            <p:cNvSpPr txBox="1"/>
            <p:nvPr/>
          </p:nvSpPr>
          <p:spPr>
            <a:xfrm>
              <a:off x="6286500" y="1095375"/>
              <a:ext cx="685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Write A</a:t>
              </a:r>
              <a:endParaRPr sz="70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V2a (Edit)</a:t>
              </a:r>
              <a:endParaRPr b="1" sz="750">
                <a:solidFill>
                  <a:srgbClr val="4EBE4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7810500" y="1095375"/>
              <a:ext cx="685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Write B</a:t>
              </a:r>
              <a:endParaRPr sz="70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V2b (Edit)</a:t>
              </a:r>
              <a:endParaRPr b="1" sz="750">
                <a:solidFill>
                  <a:srgbClr val="4EBE4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159" name="Google Shape;15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91400" y="1095375"/>
              <a:ext cx="19200" cy="828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0" name="Google Shape;160;p15"/>
            <p:cNvCxnSpPr/>
            <p:nvPr/>
          </p:nvCxnSpPr>
          <p:spPr>
            <a:xfrm>
              <a:off x="7334250" y="1476375"/>
              <a:ext cx="13350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5"/>
            <p:cNvCxnSpPr/>
            <p:nvPr/>
          </p:nvCxnSpPr>
          <p:spPr>
            <a:xfrm flipH="1">
              <a:off x="7334100" y="1476375"/>
              <a:ext cx="13350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" name="Google Shape;162;p15"/>
            <p:cNvSpPr/>
            <p:nvPr/>
          </p:nvSpPr>
          <p:spPr>
            <a:xfrm>
              <a:off x="7067550" y="1714500"/>
              <a:ext cx="666900" cy="142800"/>
            </a:xfrm>
            <a:prstGeom prst="roundRect">
              <a:avLst>
                <a:gd fmla="val 13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7067550" y="1714500"/>
              <a:ext cx="666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PARTITION</a:t>
              </a:r>
              <a:endParaRPr b="1" sz="6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6153150" y="2238375"/>
              <a:ext cx="2600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3. Silent Data Loss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Arises directly during network partition events. Split nodes independently accept conflicting modifications without consensus validation.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Leads directly to </a:t>
              </a:r>
              <a:r>
                <a:rPr b="1" lang="en" sz="110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Last-Writer-Wins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conflict resolution, resulting in silent overwrites and permanent, uncoordinated history losses.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65" name="Google Shape;165;p15"/>
          <p:cNvCxnSpPr/>
          <p:nvPr/>
        </p:nvCxnSpPr>
        <p:spPr>
          <a:xfrm>
            <a:off x="381000" y="4191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5"/>
          <p:cNvSpPr txBox="1"/>
          <p:nvPr/>
        </p:nvSpPr>
        <p:spPr>
          <a:xfrm>
            <a:off x="381000" y="42862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1">
                <a:solidFill>
                  <a:srgbClr val="4EBE46"/>
                </a:solidFill>
                <a:latin typeface="Inter"/>
                <a:ea typeface="Inter"/>
                <a:cs typeface="Inter"/>
                <a:sym typeface="Inter"/>
              </a:rPr>
              <a:t>Core Bottleneck:</a:t>
            </a:r>
            <a:r>
              <a:rPr b="1" lang="en" sz="1064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Naive architectures waste structural bandwidth, centralize compute loads, and trigger fatal concurrent update losses.</a:t>
            </a:r>
            <a:endParaRPr b="1" sz="1064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7" name="Google Shape;167;p15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381000" y="285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Cluster Synchronization Pipeline Architecture</a:t>
            </a:r>
            <a:endParaRPr b="1" sz="2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4" name="Google Shape;174;p16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904875"/>
            <a:ext cx="9600" cy="231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6"/>
          <p:cNvCxnSpPr/>
          <p:nvPr/>
        </p:nvCxnSpPr>
        <p:spPr>
          <a:xfrm>
            <a:off x="381000" y="2095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7" name="Google Shape;177;p16"/>
          <p:cNvGrpSpPr/>
          <p:nvPr/>
        </p:nvGrpSpPr>
        <p:grpSpPr>
          <a:xfrm>
            <a:off x="381000" y="904875"/>
            <a:ext cx="3710063" cy="1095300"/>
            <a:chOff x="0" y="0"/>
            <a:chExt cx="3710063" cy="1095300"/>
          </a:xfrm>
        </p:grpSpPr>
        <p:sp>
          <p:nvSpPr>
            <p:cNvPr id="178" name="Google Shape;178;p16"/>
            <p:cNvSpPr txBox="1"/>
            <p:nvPr/>
          </p:nvSpPr>
          <p:spPr>
            <a:xfrm>
              <a:off x="0" y="0"/>
              <a:ext cx="247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1. Merkle Tree Chunking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Content-Defined Chunking slices files into </a:t>
              </a:r>
              <a:r>
                <a:rPr b="1" lang="en" sz="9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64KB</a:t>
              </a: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blocks. Hierarchical Merkle trees pinpoint differing blocks in </a:t>
              </a:r>
              <a:r>
                <a:rPr b="1" lang="en" sz="9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O(log M)</a:t>
              </a: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time.</a:t>
              </a:r>
              <a:endParaRPr b="0" sz="105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9" name="Google Shape;179;p16"/>
            <p:cNvGrpSpPr/>
            <p:nvPr/>
          </p:nvGrpSpPr>
          <p:grpSpPr>
            <a:xfrm>
              <a:off x="2767013" y="147638"/>
              <a:ext cx="943050" cy="802373"/>
              <a:chOff x="100013" y="100013"/>
              <a:chExt cx="943050" cy="802373"/>
            </a:xfrm>
          </p:grpSpPr>
          <p:cxnSp>
            <p:nvCxnSpPr>
              <p:cNvPr id="180" name="Google Shape;180;p16"/>
              <p:cNvCxnSpPr/>
              <p:nvPr/>
            </p:nvCxnSpPr>
            <p:spPr>
              <a:xfrm flipH="1">
                <a:off x="285600" y="142875"/>
                <a:ext cx="285900" cy="333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16"/>
              <p:cNvCxnSpPr/>
              <p:nvPr/>
            </p:nvCxnSpPr>
            <p:spPr>
              <a:xfrm>
                <a:off x="571500" y="142875"/>
                <a:ext cx="285900" cy="333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14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16"/>
              <p:cNvCxnSpPr/>
              <p:nvPr/>
            </p:nvCxnSpPr>
            <p:spPr>
              <a:xfrm flipH="1">
                <a:off x="142950" y="476250"/>
                <a:ext cx="142800" cy="333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14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16"/>
              <p:cNvCxnSpPr/>
              <p:nvPr/>
            </p:nvCxnSpPr>
            <p:spPr>
              <a:xfrm>
                <a:off x="285750" y="476250"/>
                <a:ext cx="142800" cy="333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6"/>
              <p:cNvCxnSpPr/>
              <p:nvPr/>
            </p:nvCxnSpPr>
            <p:spPr>
              <a:xfrm flipH="1">
                <a:off x="714450" y="476250"/>
                <a:ext cx="142800" cy="333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14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6"/>
              <p:cNvCxnSpPr/>
              <p:nvPr/>
            </p:nvCxnSpPr>
            <p:spPr>
              <a:xfrm>
                <a:off x="857250" y="476250"/>
                <a:ext cx="142800" cy="333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14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6" name="Google Shape;186;p16"/>
              <p:cNvSpPr/>
              <p:nvPr/>
            </p:nvSpPr>
            <p:spPr>
              <a:xfrm>
                <a:off x="528638" y="100013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6"/>
              <p:cNvSpPr/>
              <p:nvPr/>
            </p:nvSpPr>
            <p:spPr>
              <a:xfrm>
                <a:off x="242888" y="433388"/>
                <a:ext cx="85800" cy="85800"/>
              </a:xfrm>
              <a:prstGeom prst="ellipse">
                <a:avLst/>
              </a:prstGeom>
              <a:solidFill>
                <a:srgbClr val="4EBE46"/>
              </a:solidFill>
              <a:ln cap="flat" cmpd="sng" w="1430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814388" y="433388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6"/>
              <p:cNvSpPr/>
              <p:nvPr/>
            </p:nvSpPr>
            <p:spPr>
              <a:xfrm>
                <a:off x="100013" y="766763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>
                <a:off x="385763" y="766763"/>
                <a:ext cx="85800" cy="85800"/>
              </a:xfrm>
              <a:prstGeom prst="ellipse">
                <a:avLst/>
              </a:prstGeom>
              <a:solidFill>
                <a:srgbClr val="4EBE46"/>
              </a:solidFill>
              <a:ln cap="flat" cmpd="sng" w="1430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671513" y="766763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957263" y="766763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6"/>
              <p:cNvSpPr txBox="1"/>
              <p:nvPr/>
            </p:nvSpPr>
            <p:spPr>
              <a:xfrm>
                <a:off x="504825" y="794385"/>
                <a:ext cx="1647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25">
                    <a:solidFill>
                      <a:srgbClr val="2E8B2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diff</a:t>
                </a:r>
                <a:endParaRPr b="1" sz="525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194" name="Google Shape;194;p16"/>
          <p:cNvGrpSpPr/>
          <p:nvPr/>
        </p:nvGrpSpPr>
        <p:grpSpPr>
          <a:xfrm>
            <a:off x="4762500" y="904875"/>
            <a:ext cx="3619650" cy="1095300"/>
            <a:chOff x="0" y="0"/>
            <a:chExt cx="3619650" cy="1095300"/>
          </a:xfrm>
        </p:grpSpPr>
        <p:sp>
          <p:nvSpPr>
            <p:cNvPr id="195" name="Google Shape;195;p16"/>
            <p:cNvSpPr txBox="1"/>
            <p:nvPr/>
          </p:nvSpPr>
          <p:spPr>
            <a:xfrm>
              <a:off x="0" y="0"/>
              <a:ext cx="247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2. SWIM Epidemic Gossip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Decentralized membership discovery via </a:t>
              </a:r>
              <a:r>
                <a:rPr b="1" lang="en" sz="9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SWIM</a:t>
              </a: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protocol. Converges rapidly in </a:t>
              </a:r>
              <a:r>
                <a:rPr b="1" lang="en" sz="9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O(log N)</a:t>
              </a: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rounds without a central coordinator.</a:t>
              </a:r>
              <a:endParaRPr b="0" sz="105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6" name="Google Shape;196;p16"/>
            <p:cNvGrpSpPr/>
            <p:nvPr/>
          </p:nvGrpSpPr>
          <p:grpSpPr>
            <a:xfrm>
              <a:off x="2857500" y="142875"/>
              <a:ext cx="762150" cy="857400"/>
              <a:chOff x="190500" y="95250"/>
              <a:chExt cx="762150" cy="857400"/>
            </a:xfrm>
          </p:grpSpPr>
          <p:pic>
            <p:nvPicPr>
              <p:cNvPr id="197" name="Google Shape;197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33363" y="138113"/>
                <a:ext cx="342900" cy="3906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98" name="Google Shape;198;p16"/>
              <p:cNvCxnSpPr/>
              <p:nvPr/>
            </p:nvCxnSpPr>
            <p:spPr>
              <a:xfrm>
                <a:off x="571500" y="142875"/>
                <a:ext cx="333300" cy="381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715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pic>
            <p:nvPicPr>
              <p:cNvPr id="199" name="Google Shape;199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33363" y="519113"/>
                <a:ext cx="342900" cy="3906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00" name="Google Shape;200;p16"/>
              <p:cNvCxnSpPr/>
              <p:nvPr/>
            </p:nvCxnSpPr>
            <p:spPr>
              <a:xfrm flipH="1">
                <a:off x="571575" y="523875"/>
                <a:ext cx="333300" cy="381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715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1" name="Google Shape;201;p16"/>
              <p:cNvSpPr/>
              <p:nvPr/>
            </p:nvSpPr>
            <p:spPr>
              <a:xfrm>
                <a:off x="790575" y="428625"/>
                <a:ext cx="114300" cy="95400"/>
              </a:xfrm>
              <a:custGeom>
                <a:rect b="b" l="l" r="r" t="t"/>
                <a:pathLst>
                  <a:path extrusionOk="0" h="120000" w="120000">
                    <a:moveTo>
                      <a:pt x="30000" y="0"/>
                    </a:moveTo>
                    <a:lnTo>
                      <a:pt x="120000" y="120000"/>
                    </a:lnTo>
                    <a:lnTo>
                      <a:pt x="0" y="84000"/>
                    </a:lnTo>
                    <a:close/>
                  </a:path>
                </a:pathLst>
              </a:cu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6"/>
              <p:cNvSpPr/>
              <p:nvPr/>
            </p:nvSpPr>
            <p:spPr>
              <a:xfrm>
                <a:off x="571500" y="809625"/>
                <a:ext cx="85800" cy="95400"/>
              </a:xfrm>
              <a:custGeom>
                <a:rect b="b" l="l" r="r" t="t"/>
                <a:pathLst>
                  <a:path extrusionOk="0" h="120000" w="120000">
                    <a:moveTo>
                      <a:pt x="120000" y="0"/>
                    </a:moveTo>
                    <a:lnTo>
                      <a:pt x="0" y="120000"/>
                    </a:lnTo>
                    <a:lnTo>
                      <a:pt x="93333" y="48000"/>
                    </a:lnTo>
                    <a:close/>
                  </a:path>
                </a:pathLst>
              </a:cu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6"/>
              <p:cNvSpPr/>
              <p:nvPr/>
            </p:nvSpPr>
            <p:spPr>
              <a:xfrm>
                <a:off x="238125" y="42862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120000" y="0"/>
                    </a:moveTo>
                    <a:lnTo>
                      <a:pt x="0" y="120000"/>
                    </a:lnTo>
                    <a:lnTo>
                      <a:pt x="68571" y="7200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6"/>
              <p:cNvSpPr/>
              <p:nvPr/>
            </p:nvSpPr>
            <p:spPr>
              <a:xfrm>
                <a:off x="523875" y="9525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6"/>
              <p:cNvSpPr/>
              <p:nvPr/>
            </p:nvSpPr>
            <p:spPr>
              <a:xfrm>
                <a:off x="190500" y="47625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6"/>
              <p:cNvSpPr/>
              <p:nvPr/>
            </p:nvSpPr>
            <p:spPr>
              <a:xfrm>
                <a:off x="857250" y="476250"/>
                <a:ext cx="95400" cy="95400"/>
              </a:xfrm>
              <a:prstGeom prst="ellipse">
                <a:avLst/>
              </a:prstGeom>
              <a:solidFill>
                <a:srgbClr val="4EBE46"/>
              </a:solidFill>
              <a:ln cap="flat" cmpd="sng" w="1430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523875" y="857250"/>
                <a:ext cx="95400" cy="95400"/>
              </a:xfrm>
              <a:prstGeom prst="ellipse">
                <a:avLst/>
              </a:prstGeom>
              <a:solidFill>
                <a:srgbClr val="4EBE46"/>
              </a:solidFill>
              <a:ln cap="flat" cmpd="sng" w="1430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8" name="Google Shape;208;p16"/>
          <p:cNvGrpSpPr/>
          <p:nvPr/>
        </p:nvGrpSpPr>
        <p:grpSpPr>
          <a:xfrm>
            <a:off x="381000" y="2238375"/>
            <a:ext cx="3686325" cy="1095300"/>
            <a:chOff x="0" y="0"/>
            <a:chExt cx="3686325" cy="1095300"/>
          </a:xfrm>
        </p:grpSpPr>
        <p:sp>
          <p:nvSpPr>
            <p:cNvPr id="209" name="Google Shape;209;p16"/>
            <p:cNvSpPr txBox="1"/>
            <p:nvPr/>
          </p:nvSpPr>
          <p:spPr>
            <a:xfrm>
              <a:off x="0" y="0"/>
              <a:ext cx="247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3. P2P Swarm Distribution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Uses BitTorrent-style pulling mechanics across nearest cluster peers to parallelize block transfers and completely eliminate egress hotspots.</a:t>
              </a:r>
              <a:endParaRPr b="0" sz="105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0" name="Google Shape;210;p16"/>
            <p:cNvGrpSpPr/>
            <p:nvPr/>
          </p:nvGrpSpPr>
          <p:grpSpPr>
            <a:xfrm>
              <a:off x="2809875" y="190500"/>
              <a:ext cx="876450" cy="781200"/>
              <a:chOff x="142875" y="142875"/>
              <a:chExt cx="876450" cy="781200"/>
            </a:xfrm>
          </p:grpSpPr>
          <p:sp>
            <p:nvSpPr>
              <p:cNvPr id="211" name="Google Shape;211;p16"/>
              <p:cNvSpPr/>
              <p:nvPr/>
            </p:nvSpPr>
            <p:spPr>
              <a:xfrm>
                <a:off x="142875" y="142875"/>
                <a:ext cx="209700" cy="209700"/>
              </a:xfrm>
              <a:prstGeom prst="roundRect">
                <a:avLst>
                  <a:gd fmla="val 1363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809625" y="142875"/>
                <a:ext cx="209700" cy="209700"/>
              </a:xfrm>
              <a:prstGeom prst="roundRect">
                <a:avLst>
                  <a:gd fmla="val 1363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6"/>
              <p:cNvSpPr/>
              <p:nvPr/>
            </p:nvSpPr>
            <p:spPr>
              <a:xfrm>
                <a:off x="476250" y="714375"/>
                <a:ext cx="209700" cy="209700"/>
              </a:xfrm>
              <a:prstGeom prst="roundRect">
                <a:avLst>
                  <a:gd fmla="val 1363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4" name="Google Shape;214;p16"/>
              <p:cNvCxnSpPr/>
              <p:nvPr/>
            </p:nvCxnSpPr>
            <p:spPr>
              <a:xfrm>
                <a:off x="190500" y="200025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16"/>
              <p:cNvCxnSpPr/>
              <p:nvPr/>
            </p:nvCxnSpPr>
            <p:spPr>
              <a:xfrm>
                <a:off x="190500" y="2476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16"/>
              <p:cNvCxnSpPr/>
              <p:nvPr/>
            </p:nvCxnSpPr>
            <p:spPr>
              <a:xfrm>
                <a:off x="857250" y="200025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16"/>
              <p:cNvCxnSpPr/>
              <p:nvPr/>
            </p:nvCxnSpPr>
            <p:spPr>
              <a:xfrm>
                <a:off x="857250" y="2476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8" name="Google Shape;218;p16"/>
              <p:cNvCxnSpPr/>
              <p:nvPr/>
            </p:nvCxnSpPr>
            <p:spPr>
              <a:xfrm>
                <a:off x="523875" y="771525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" name="Google Shape;219;p16"/>
              <p:cNvCxnSpPr/>
              <p:nvPr/>
            </p:nvCxnSpPr>
            <p:spPr>
              <a:xfrm>
                <a:off x="523875" y="819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pic>
            <p:nvPicPr>
              <p:cNvPr id="220" name="Google Shape;220;p1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2900" y="347663"/>
                <a:ext cx="1524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" name="Google Shape;221;p1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66750" y="347663"/>
                <a:ext cx="1524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16"/>
              <p:cNvSpPr/>
              <p:nvPr/>
            </p:nvSpPr>
            <p:spPr>
              <a:xfrm>
                <a:off x="390525" y="447675"/>
                <a:ext cx="47700" cy="47700"/>
              </a:xfrm>
              <a:prstGeom prst="roundRect">
                <a:avLst>
                  <a:gd fmla="val 20000" name="adj"/>
                </a:avLst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704850" y="447675"/>
                <a:ext cx="47700" cy="47700"/>
              </a:xfrm>
              <a:prstGeom prst="roundRect">
                <a:avLst>
                  <a:gd fmla="val 20000" name="adj"/>
                </a:avLst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4" name="Google Shape;224;p16"/>
          <p:cNvGrpSpPr/>
          <p:nvPr/>
        </p:nvGrpSpPr>
        <p:grpSpPr>
          <a:xfrm>
            <a:off x="4762500" y="2238375"/>
            <a:ext cx="3667050" cy="1095300"/>
            <a:chOff x="0" y="0"/>
            <a:chExt cx="3667050" cy="1095300"/>
          </a:xfrm>
        </p:grpSpPr>
        <p:sp>
          <p:nvSpPr>
            <p:cNvPr id="225" name="Google Shape;225;p16"/>
            <p:cNvSpPr txBox="1"/>
            <p:nvPr/>
          </p:nvSpPr>
          <p:spPr>
            <a:xfrm>
              <a:off x="0" y="0"/>
              <a:ext cx="247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4. Vector Clock Causality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Tracks deterministic distributed causal relationships to cleanly isolate and resolve non-destructive conflict branches.</a:t>
              </a:r>
              <a:endParaRPr b="0" sz="105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26" name="Google Shape;226;p16"/>
            <p:cNvGrpSpPr/>
            <p:nvPr/>
          </p:nvGrpSpPr>
          <p:grpSpPr>
            <a:xfrm>
              <a:off x="2809875" y="257175"/>
              <a:ext cx="857175" cy="703905"/>
              <a:chOff x="142875" y="209550"/>
              <a:chExt cx="857175" cy="703905"/>
            </a:xfrm>
          </p:grpSpPr>
          <p:cxnSp>
            <p:nvCxnSpPr>
              <p:cNvPr id="227" name="Google Shape;227;p16"/>
              <p:cNvCxnSpPr/>
              <p:nvPr/>
            </p:nvCxnSpPr>
            <p:spPr>
              <a:xfrm>
                <a:off x="142875" y="523875"/>
                <a:ext cx="333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8" name="Google Shape;228;p16"/>
              <p:cNvSpPr/>
              <p:nvPr/>
            </p:nvSpPr>
            <p:spPr>
              <a:xfrm>
                <a:off x="180975" y="495300"/>
                <a:ext cx="57300" cy="573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>
                <a:off x="371475" y="495300"/>
                <a:ext cx="57300" cy="573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476250" y="238125"/>
                <a:ext cx="5238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32727" y="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476250" y="523875"/>
                <a:ext cx="5238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quadBezTo>
                      <a:pt x="32727" y="120000"/>
                      <a:pt x="120000" y="12000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7150">
                <a:solidFill>
                  <a:srgbClr val="4EBE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685800" y="304800"/>
                <a:ext cx="57300" cy="573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6"/>
              <p:cNvSpPr/>
              <p:nvPr/>
            </p:nvSpPr>
            <p:spPr>
              <a:xfrm>
                <a:off x="923925" y="209550"/>
                <a:ext cx="57300" cy="573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6"/>
              <p:cNvSpPr txBox="1"/>
              <p:nvPr/>
            </p:nvSpPr>
            <p:spPr>
              <a:xfrm>
                <a:off x="695325" y="211455"/>
                <a:ext cx="1767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50">
                    <a:solidFill>
                      <a:srgbClr val="4D4D4D"/>
                    </a:solidFill>
                    <a:latin typeface="Inter"/>
                    <a:ea typeface="Inter"/>
                    <a:cs typeface="Inter"/>
                    <a:sym typeface="Inter"/>
                  </a:rPr>
                  <a:t>[1,0]</a:t>
                </a:r>
                <a:endParaRPr sz="45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685800" y="685800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923925" y="781050"/>
                <a:ext cx="57300" cy="57300"/>
              </a:xfrm>
              <a:prstGeom prst="ellipse">
                <a:avLst/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6"/>
              <p:cNvSpPr txBox="1"/>
              <p:nvPr/>
            </p:nvSpPr>
            <p:spPr>
              <a:xfrm>
                <a:off x="695325" y="821055"/>
                <a:ext cx="1767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50">
                    <a:solidFill>
                      <a:srgbClr val="2E8B27"/>
                    </a:solidFill>
                    <a:latin typeface="Inter"/>
                    <a:ea typeface="Inter"/>
                    <a:cs typeface="Inter"/>
                    <a:sym typeface="Inter"/>
                  </a:rPr>
                  <a:t>[0,1]</a:t>
                </a:r>
                <a:endParaRPr b="1" sz="450">
                  <a:solidFill>
                    <a:srgbClr val="2E8B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38" name="Google Shape;238;p16"/>
          <p:cNvSpPr txBox="1"/>
          <p:nvPr/>
        </p:nvSpPr>
        <p:spPr>
          <a:xfrm>
            <a:off x="666750" y="34480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Sequential Data &amp; Protocol Pipeline</a:t>
            </a:r>
            <a:endParaRPr b="1" sz="900">
              <a:solidFill>
                <a:srgbClr val="4D4D4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9" name="Google Shape;239;p16"/>
          <p:cNvGrpSpPr/>
          <p:nvPr/>
        </p:nvGrpSpPr>
        <p:grpSpPr>
          <a:xfrm>
            <a:off x="666750" y="3667125"/>
            <a:ext cx="7810500" cy="523800"/>
            <a:chOff x="666750" y="3667125"/>
            <a:chExt cx="7810500" cy="523800"/>
          </a:xfrm>
        </p:grpSpPr>
        <p:sp>
          <p:nvSpPr>
            <p:cNvPr id="240" name="Google Shape;240;p16"/>
            <p:cNvSpPr/>
            <p:nvPr/>
          </p:nvSpPr>
          <p:spPr>
            <a:xfrm>
              <a:off x="666750" y="3667125"/>
              <a:ext cx="1524000" cy="5238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6"/>
            <p:cNvSpPr txBox="1"/>
            <p:nvPr/>
          </p:nvSpPr>
          <p:spPr>
            <a:xfrm>
              <a:off x="666750" y="36671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1. Merkle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324100" y="3857625"/>
              <a:ext cx="304800" cy="152400"/>
            </a:xfrm>
            <a:custGeom>
              <a:rect b="b" l="l" r="r" t="t"/>
              <a:pathLst>
                <a:path extrusionOk="0" h="120000" w="120000">
                  <a:moveTo>
                    <a:pt x="0" y="45000"/>
                  </a:moveTo>
                  <a:lnTo>
                    <a:pt x="75000" y="45000"/>
                  </a:lnTo>
                  <a:lnTo>
                    <a:pt x="75000" y="0"/>
                  </a:lnTo>
                  <a:lnTo>
                    <a:pt x="120000" y="60000"/>
                  </a:lnTo>
                  <a:lnTo>
                    <a:pt x="75000" y="120000"/>
                  </a:lnTo>
                  <a:lnTo>
                    <a:pt x="75000" y="75000"/>
                  </a:lnTo>
                  <a:lnTo>
                    <a:pt x="0" y="7500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762250" y="3667125"/>
              <a:ext cx="1524000" cy="5238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6"/>
            <p:cNvSpPr txBox="1"/>
            <p:nvPr/>
          </p:nvSpPr>
          <p:spPr>
            <a:xfrm>
              <a:off x="2762250" y="36671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2. Gossip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4419600" y="3857625"/>
              <a:ext cx="304800" cy="152400"/>
            </a:xfrm>
            <a:custGeom>
              <a:rect b="b" l="l" r="r" t="t"/>
              <a:pathLst>
                <a:path extrusionOk="0" h="120000" w="120000">
                  <a:moveTo>
                    <a:pt x="0" y="45000"/>
                  </a:moveTo>
                  <a:lnTo>
                    <a:pt x="75000" y="45000"/>
                  </a:lnTo>
                  <a:lnTo>
                    <a:pt x="75000" y="0"/>
                  </a:lnTo>
                  <a:lnTo>
                    <a:pt x="120000" y="60000"/>
                  </a:lnTo>
                  <a:lnTo>
                    <a:pt x="75000" y="120000"/>
                  </a:lnTo>
                  <a:lnTo>
                    <a:pt x="75000" y="75000"/>
                  </a:lnTo>
                  <a:lnTo>
                    <a:pt x="0" y="7500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4857750" y="3667125"/>
              <a:ext cx="1524000" cy="5238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6"/>
            <p:cNvSpPr txBox="1"/>
            <p:nvPr/>
          </p:nvSpPr>
          <p:spPr>
            <a:xfrm>
              <a:off x="4857750" y="36671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3. Swarm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6515100" y="3857625"/>
              <a:ext cx="304800" cy="152400"/>
            </a:xfrm>
            <a:custGeom>
              <a:rect b="b" l="l" r="r" t="t"/>
              <a:pathLst>
                <a:path extrusionOk="0" h="120000" w="120000">
                  <a:moveTo>
                    <a:pt x="0" y="45000"/>
                  </a:moveTo>
                  <a:lnTo>
                    <a:pt x="75000" y="45000"/>
                  </a:lnTo>
                  <a:lnTo>
                    <a:pt x="75000" y="0"/>
                  </a:lnTo>
                  <a:lnTo>
                    <a:pt x="120000" y="60000"/>
                  </a:lnTo>
                  <a:lnTo>
                    <a:pt x="75000" y="120000"/>
                  </a:lnTo>
                  <a:lnTo>
                    <a:pt x="75000" y="75000"/>
                  </a:lnTo>
                  <a:lnTo>
                    <a:pt x="0" y="75000"/>
                  </a:lnTo>
                  <a:close/>
                </a:path>
              </a:pathLst>
            </a:cu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6953250" y="3667125"/>
              <a:ext cx="1524000" cy="5238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6"/>
            <p:cNvSpPr txBox="1"/>
            <p:nvPr/>
          </p:nvSpPr>
          <p:spPr>
            <a:xfrm>
              <a:off x="6953250" y="36671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4. Causality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51" name="Google Shape;251;p16"/>
          <p:cNvCxnSpPr/>
          <p:nvPr/>
        </p:nvCxnSpPr>
        <p:spPr>
          <a:xfrm>
            <a:off x="381000" y="47148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Nutanix-Sync Delta Sync Benchmark</a:t>
            </a:r>
            <a:endParaRPr b="1" sz="2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8" name="Google Shape;258;p17"/>
          <p:cNvGrpSpPr/>
          <p:nvPr/>
        </p:nvGrpSpPr>
        <p:grpSpPr>
          <a:xfrm>
            <a:off x="381000" y="1047750"/>
            <a:ext cx="4000650" cy="3314550"/>
            <a:chOff x="0" y="0"/>
            <a:chExt cx="4000650" cy="3314550"/>
          </a:xfrm>
        </p:grpSpPr>
        <p:cxnSp>
          <p:nvCxnSpPr>
            <p:cNvPr id="259" name="Google Shape;259;p17"/>
            <p:cNvCxnSpPr/>
            <p:nvPr/>
          </p:nvCxnSpPr>
          <p:spPr>
            <a:xfrm>
              <a:off x="0" y="0"/>
              <a:ext cx="4000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" name="Google Shape;260;p17"/>
            <p:cNvSpPr txBox="1"/>
            <p:nvPr/>
          </p:nvSpPr>
          <p:spPr>
            <a:xfrm>
              <a:off x="0" y="762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Evaluation Metric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1" name="Google Shape;261;p17"/>
            <p:cNvSpPr txBox="1"/>
            <p:nvPr/>
          </p:nvSpPr>
          <p:spPr>
            <a:xfrm>
              <a:off x="1619250" y="76200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Naive Full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2762250" y="76200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8B27"/>
                  </a:solidFill>
                  <a:latin typeface="Inter"/>
                  <a:ea typeface="Inter"/>
                  <a:cs typeface="Inter"/>
                  <a:sym typeface="Inter"/>
                </a:rPr>
                <a:t>Nutanix-Sync</a:t>
              </a:r>
              <a:endParaRPr b="1" sz="1100">
                <a:solidFill>
                  <a:srgbClr val="2E8B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3" name="Google Shape;263;p17"/>
            <p:cNvCxnSpPr/>
            <p:nvPr/>
          </p:nvCxnSpPr>
          <p:spPr>
            <a:xfrm>
              <a:off x="0" y="361950"/>
              <a:ext cx="400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4" name="Google Shape;264;p17"/>
            <p:cNvSpPr txBox="1"/>
            <p:nvPr/>
          </p:nvSpPr>
          <p:spPr>
            <a:xfrm>
              <a:off x="0" y="4572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Wire Egress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1619250" y="457200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128 KB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6" name="Google Shape;266;p17"/>
            <p:cNvSpPr txBox="1"/>
            <p:nvPr/>
          </p:nvSpPr>
          <p:spPr>
            <a:xfrm>
              <a:off x="2762250" y="457200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8B27"/>
                  </a:solidFill>
                  <a:latin typeface="Inter"/>
                  <a:ea typeface="Inter"/>
                  <a:cs typeface="Inter"/>
                  <a:sym typeface="Inter"/>
                </a:rPr>
                <a:t>64 KB (1 chunk)</a:t>
              </a:r>
              <a:endParaRPr b="1" sz="1100">
                <a:solidFill>
                  <a:srgbClr val="2E8B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7" name="Google Shape;267;p17"/>
            <p:cNvCxnSpPr/>
            <p:nvPr/>
          </p:nvCxnSpPr>
          <p:spPr>
            <a:xfrm>
              <a:off x="0" y="742950"/>
              <a:ext cx="400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8" name="Google Shape;268;p17"/>
            <p:cNvSpPr txBox="1"/>
            <p:nvPr/>
          </p:nvSpPr>
          <p:spPr>
            <a:xfrm>
              <a:off x="0" y="8382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Convergence Time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17"/>
            <p:cNvSpPr txBox="1"/>
            <p:nvPr/>
          </p:nvSpPr>
          <p:spPr>
            <a:xfrm>
              <a:off x="1619250" y="838200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0.078s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0" name="Google Shape;270;p17"/>
            <p:cNvSpPr txBox="1"/>
            <p:nvPr/>
          </p:nvSpPr>
          <p:spPr>
            <a:xfrm>
              <a:off x="2762250" y="838200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8B27"/>
                  </a:solidFill>
                  <a:latin typeface="Inter"/>
                  <a:ea typeface="Inter"/>
                  <a:cs typeface="Inter"/>
                  <a:sym typeface="Inter"/>
                </a:rPr>
                <a:t>0.065s</a:t>
              </a:r>
              <a:endParaRPr b="1" sz="1100">
                <a:solidFill>
                  <a:srgbClr val="2E8B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1" name="Google Shape;271;p17"/>
            <p:cNvCxnSpPr/>
            <p:nvPr/>
          </p:nvCxnSpPr>
          <p:spPr>
            <a:xfrm>
              <a:off x="0" y="1123950"/>
              <a:ext cx="400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2" name="Google Shape;272;p17"/>
            <p:cNvSpPr txBox="1"/>
            <p:nvPr/>
          </p:nvSpPr>
          <p:spPr>
            <a:xfrm>
              <a:off x="0" y="12192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Data Integrity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3" name="Google Shape;273;p17"/>
            <p:cNvSpPr txBox="1"/>
            <p:nvPr/>
          </p:nvSpPr>
          <p:spPr>
            <a:xfrm>
              <a:off x="1619250" y="1219200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Standard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4" name="Google Shape;274;p17"/>
            <p:cNvSpPr txBox="1"/>
            <p:nvPr/>
          </p:nvSpPr>
          <p:spPr>
            <a:xfrm>
              <a:off x="2762250" y="1219200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SHA-256 Bit-for-Bit</a:t>
              </a:r>
              <a:endParaRPr b="1" sz="93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5" name="Google Shape;275;p17"/>
            <p:cNvCxnSpPr/>
            <p:nvPr/>
          </p:nvCxnSpPr>
          <p:spPr>
            <a:xfrm>
              <a:off x="0" y="1504950"/>
              <a:ext cx="4000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6" name="Google Shape;276;p17"/>
            <p:cNvSpPr txBox="1"/>
            <p:nvPr/>
          </p:nvSpPr>
          <p:spPr>
            <a:xfrm>
              <a:off x="0" y="1695450"/>
              <a:ext cx="4000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Methodology: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Benchmarks performed on a 3.0 MB dataset with a 58-byte payload modification. Standard naive systems replicate entire multi-kilobyte frames, pushing wire egress up to 128 KB. Nutanix-Sync identifies the precise diff, transferring only the exact 64 KB modified chunk. This results in a </a:t>
              </a:r>
              <a:r>
                <a:rPr b="1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97.92% bandwidth reduction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at the dataset level and improves convergence latency.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7" name="Google Shape;277;p17"/>
          <p:cNvGrpSpPr/>
          <p:nvPr/>
        </p:nvGrpSpPr>
        <p:grpSpPr>
          <a:xfrm>
            <a:off x="4762500" y="1047750"/>
            <a:ext cx="4000500" cy="2781300"/>
            <a:chOff x="0" y="0"/>
            <a:chExt cx="4000500" cy="2781300"/>
          </a:xfrm>
        </p:grpSpPr>
        <p:sp>
          <p:nvSpPr>
            <p:cNvPr id="278" name="Google Shape;278;p17"/>
            <p:cNvSpPr txBox="1"/>
            <p:nvPr/>
          </p:nvSpPr>
          <p:spPr>
            <a:xfrm>
              <a:off x="0" y="0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00">
                  <a:solidFill>
                    <a:srgbClr val="4EBE46"/>
                  </a:solidFill>
                  <a:latin typeface="Inter"/>
                  <a:ea typeface="Inter"/>
                  <a:cs typeface="Inter"/>
                  <a:sym typeface="Inter"/>
                </a:rPr>
                <a:t>97.92%</a:t>
              </a:r>
              <a:endParaRPr b="1" sz="5200">
                <a:solidFill>
                  <a:srgbClr val="4EBE4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Bandwidth Saved At Dataset Level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9" name="Google Shape;279;p17"/>
            <p:cNvCxnSpPr/>
            <p:nvPr/>
          </p:nvCxnSpPr>
          <p:spPr>
            <a:xfrm>
              <a:off x="0" y="1095375"/>
              <a:ext cx="400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80" name="Google Shape;280;p17"/>
            <p:cNvGrpSpPr/>
            <p:nvPr/>
          </p:nvGrpSpPr>
          <p:grpSpPr>
            <a:xfrm>
              <a:off x="0" y="1238250"/>
              <a:ext cx="4000500" cy="1543050"/>
              <a:chOff x="0" y="0"/>
              <a:chExt cx="4000500" cy="1543050"/>
            </a:xfrm>
          </p:grpSpPr>
          <p:sp>
            <p:nvSpPr>
              <p:cNvPr id="281" name="Google Shape;281;p17"/>
              <p:cNvSpPr txBox="1"/>
              <p:nvPr/>
            </p:nvSpPr>
            <p:spPr>
              <a:xfrm>
                <a:off x="0" y="0"/>
                <a:ext cx="400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D4D4D"/>
                    </a:solidFill>
                    <a:latin typeface="Inter"/>
                    <a:ea typeface="Inter"/>
                    <a:cs typeface="Inter"/>
                    <a:sym typeface="Inter"/>
                  </a:rPr>
                  <a:t>Egress Wire Comparison (Proportional)</a:t>
                </a:r>
                <a:endParaRPr b="1" sz="10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17"/>
              <p:cNvSpPr txBox="1"/>
              <p:nvPr/>
            </p:nvSpPr>
            <p:spPr>
              <a:xfrm>
                <a:off x="0" y="266700"/>
                <a:ext cx="400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D4D4D"/>
                    </a:solidFill>
                    <a:latin typeface="Inter"/>
                    <a:ea typeface="Inter"/>
                    <a:cs typeface="Inter"/>
                    <a:sym typeface="Inter"/>
                  </a:rPr>
                  <a:t>Naive Replication: 128 KB</a:t>
                </a:r>
                <a:endParaRPr b="0" sz="10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17"/>
              <p:cNvSpPr/>
              <p:nvPr/>
            </p:nvSpPr>
            <p:spPr>
              <a:xfrm>
                <a:off x="0" y="476250"/>
                <a:ext cx="34290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0" y="476250"/>
                <a:ext cx="34290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7"/>
              <p:cNvSpPr txBox="1"/>
              <p:nvPr/>
            </p:nvSpPr>
            <p:spPr>
              <a:xfrm>
                <a:off x="0" y="762000"/>
                <a:ext cx="400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Nutanix-Sync Delta Sync: 64 KB</a:t>
                </a:r>
                <a:endParaRPr b="1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0" y="971550"/>
                <a:ext cx="34290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0" y="971550"/>
                <a:ext cx="17145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7"/>
              <p:cNvSpPr txBox="1"/>
              <p:nvPr/>
            </p:nvSpPr>
            <p:spPr>
              <a:xfrm>
                <a:off x="1857375" y="971550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2E8B2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← Single 64 KB Chunk</a:t>
                </a:r>
                <a:endParaRPr b="1" sz="8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pic>
            <p:nvPicPr>
              <p:cNvPr id="289" name="Google Shape;289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1281113"/>
                <a:ext cx="34101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90" name="Google Shape;290;p17"/>
              <p:cNvCxnSpPr/>
              <p:nvPr/>
            </p:nvCxnSpPr>
            <p:spPr>
              <a:xfrm>
                <a:off x="0" y="1247775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17"/>
              <p:cNvCxnSpPr/>
              <p:nvPr/>
            </p:nvCxnSpPr>
            <p:spPr>
              <a:xfrm>
                <a:off x="1714500" y="1247775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17"/>
              <p:cNvCxnSpPr/>
              <p:nvPr/>
            </p:nvCxnSpPr>
            <p:spPr>
              <a:xfrm>
                <a:off x="3429000" y="1247775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3" name="Google Shape;293;p17"/>
              <p:cNvSpPr txBox="1"/>
              <p:nvPr/>
            </p:nvSpPr>
            <p:spPr>
              <a:xfrm>
                <a:off x="0" y="1352550"/>
                <a:ext cx="47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D4D4D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 KB</a:t>
                </a:r>
                <a:endParaRPr b="0" sz="800">
                  <a:solidFill>
                    <a:srgbClr val="4D4D4D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294" name="Google Shape;294;p17"/>
              <p:cNvSpPr txBox="1"/>
              <p:nvPr/>
            </p:nvSpPr>
            <p:spPr>
              <a:xfrm>
                <a:off x="1428750" y="1352550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D4D4D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64 KB</a:t>
                </a:r>
                <a:endParaRPr b="0" sz="800">
                  <a:solidFill>
                    <a:srgbClr val="4D4D4D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295" name="Google Shape;295;p17"/>
              <p:cNvSpPr txBox="1"/>
              <p:nvPr/>
            </p:nvSpPr>
            <p:spPr>
              <a:xfrm>
                <a:off x="3048000" y="1352550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D4D4D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128 KB</a:t>
                </a:r>
                <a:endParaRPr b="0" sz="800">
                  <a:solidFill>
                    <a:srgbClr val="4D4D4D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cxnSp>
        <p:nvCxnSpPr>
          <p:cNvPr id="296" name="Google Shape;296;p17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Verification Strategy: Physical &amp; Distributed Scale</a:t>
            </a:r>
            <a:endParaRPr b="1" sz="2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381000" y="666750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D4D4D"/>
                </a:solidFill>
                <a:latin typeface="Inter Medium"/>
                <a:ea typeface="Inter Medium"/>
                <a:cs typeface="Inter Medium"/>
                <a:sym typeface="Inter Medium"/>
              </a:rPr>
              <a:t>The verification strategy guarantees physical correctness and distributed-scale behavior.</a:t>
            </a:r>
            <a:endParaRPr b="0" sz="1100">
              <a:solidFill>
                <a:srgbClr val="4D4D4D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03" name="Google Shape;303;p18"/>
          <p:cNvGrpSpPr/>
          <p:nvPr/>
        </p:nvGrpSpPr>
        <p:grpSpPr>
          <a:xfrm>
            <a:off x="381000" y="952500"/>
            <a:ext cx="4000500" cy="1905000"/>
            <a:chOff x="0" y="0"/>
            <a:chExt cx="4000500" cy="1905000"/>
          </a:xfrm>
        </p:grpSpPr>
        <p:sp>
          <p:nvSpPr>
            <p:cNvPr id="304" name="Google Shape;304;p18"/>
            <p:cNvSpPr txBox="1"/>
            <p:nvPr/>
          </p:nvSpPr>
          <p:spPr>
            <a:xfrm>
              <a:off x="0" y="0"/>
              <a:ext cx="400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Physical 2-Node Replication Baseline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5" name="Google Shape;305;p18"/>
            <p:cNvSpPr txBox="1"/>
            <p:nvPr/>
          </p:nvSpPr>
          <p:spPr>
            <a:xfrm>
              <a:off x="0" y="285750"/>
              <a:ext cx="40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Uses OS-level watchdog hooks on real directories, handling real-time file creation, mutation, and deletion under </a:t>
              </a:r>
              <a:r>
                <a:rPr b="1" lang="en" sz="1100">
                  <a:solidFill>
                    <a:srgbClr val="2E8B27"/>
                  </a:solidFill>
                  <a:latin typeface="Inter"/>
                  <a:ea typeface="Inter"/>
                  <a:cs typeface="Inter"/>
                  <a:sym typeface="Inter"/>
                </a:rPr>
                <a:t>50ms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, monitored continuously via a terminal TUI.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6" name="Google Shape;306;p18"/>
            <p:cNvGrpSpPr/>
            <p:nvPr/>
          </p:nvGrpSpPr>
          <p:grpSpPr>
            <a:xfrm>
              <a:off x="0" y="1095375"/>
              <a:ext cx="3905400" cy="809625"/>
              <a:chOff x="0" y="0"/>
              <a:chExt cx="3905400" cy="809625"/>
            </a:xfrm>
          </p:grpSpPr>
          <p:sp>
            <p:nvSpPr>
              <p:cNvPr id="307" name="Google Shape;307;p18"/>
              <p:cNvSpPr/>
              <p:nvPr/>
            </p:nvSpPr>
            <p:spPr>
              <a:xfrm>
                <a:off x="0" y="0"/>
                <a:ext cx="1000200" cy="400200"/>
              </a:xfrm>
              <a:prstGeom prst="roundRect">
                <a:avLst>
                  <a:gd fmla="val 952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8"/>
              <p:cNvSpPr txBox="1"/>
              <p:nvPr/>
            </p:nvSpPr>
            <p:spPr>
              <a:xfrm>
                <a:off x="47625" y="57150"/>
                <a:ext cx="90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Active Directory</a:t>
                </a: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1066800" y="133350"/>
                <a:ext cx="247800" cy="133500"/>
              </a:xfrm>
              <a:custGeom>
                <a:rect b="b" l="l" r="r" t="t"/>
                <a:pathLst>
                  <a:path extrusionOk="0" h="120000" w="120000">
                    <a:moveTo>
                      <a:pt x="0" y="42857"/>
                    </a:moveTo>
                    <a:lnTo>
                      <a:pt x="73846" y="42857"/>
                    </a:lnTo>
                    <a:lnTo>
                      <a:pt x="73846" y="0"/>
                    </a:lnTo>
                    <a:lnTo>
                      <a:pt x="120000" y="60000"/>
                    </a:lnTo>
                    <a:lnTo>
                      <a:pt x="73846" y="120000"/>
                    </a:lnTo>
                    <a:lnTo>
                      <a:pt x="73846" y="77143"/>
                    </a:lnTo>
                    <a:lnTo>
                      <a:pt x="0" y="77143"/>
                    </a:lnTo>
                    <a:close/>
                  </a:path>
                </a:pathLst>
              </a:cu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>
                <a:off x="1381125" y="0"/>
                <a:ext cx="1095300" cy="400200"/>
              </a:xfrm>
              <a:prstGeom prst="roundRect">
                <a:avLst>
                  <a:gd fmla="val 952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8"/>
              <p:cNvSpPr txBox="1"/>
              <p:nvPr/>
            </p:nvSpPr>
            <p:spPr>
              <a:xfrm>
                <a:off x="1428750" y="57150"/>
                <a:ext cx="1000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Watchdog Hook</a:t>
                </a:r>
                <a:endParaRPr/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>
                <a:off x="2543175" y="133350"/>
                <a:ext cx="247800" cy="133500"/>
              </a:xfrm>
              <a:custGeom>
                <a:rect b="b" l="l" r="r" t="t"/>
                <a:pathLst>
                  <a:path extrusionOk="0" h="120000" w="120000">
                    <a:moveTo>
                      <a:pt x="0" y="42857"/>
                    </a:moveTo>
                    <a:lnTo>
                      <a:pt x="73846" y="42857"/>
                    </a:lnTo>
                    <a:lnTo>
                      <a:pt x="73846" y="0"/>
                    </a:lnTo>
                    <a:lnTo>
                      <a:pt x="120000" y="60000"/>
                    </a:lnTo>
                    <a:lnTo>
                      <a:pt x="73846" y="120000"/>
                    </a:lnTo>
                    <a:lnTo>
                      <a:pt x="73846" y="77143"/>
                    </a:lnTo>
                    <a:lnTo>
                      <a:pt x="0" y="77143"/>
                    </a:lnTo>
                    <a:close/>
                  </a:path>
                </a:pathLst>
              </a:custGeom>
              <a:solidFill>
                <a:srgbClr val="4EBE4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>
                <a:off x="2857500" y="0"/>
                <a:ext cx="1047900" cy="400200"/>
              </a:xfrm>
              <a:prstGeom prst="roundRect">
                <a:avLst>
                  <a:gd fmla="val 952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2E8B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8"/>
              <p:cNvSpPr txBox="1"/>
              <p:nvPr/>
            </p:nvSpPr>
            <p:spPr>
              <a:xfrm>
                <a:off x="2905125" y="57150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E8B27"/>
                    </a:solidFill>
                    <a:latin typeface="Inter"/>
                    <a:ea typeface="Inter"/>
                    <a:cs typeface="Inter"/>
                    <a:sym typeface="Inter"/>
                  </a:rPr>
                  <a:t>Sync Process</a:t>
                </a:r>
                <a:endParaRPr/>
              </a:p>
            </p:txBody>
          </p:sp>
          <p:pic>
            <p:nvPicPr>
              <p:cNvPr id="315" name="Google Shape;315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90538" y="400050"/>
                <a:ext cx="2895600" cy="195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6" name="Google Shape;316;p18"/>
              <p:cNvSpPr txBox="1"/>
              <p:nvPr/>
            </p:nvSpPr>
            <p:spPr>
              <a:xfrm>
                <a:off x="952500" y="619125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40">
                    <a:solidFill>
                      <a:srgbClr val="2E8B2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Propagation Latency &lt; 50ms [Verified]</a:t>
                </a:r>
                <a:endParaRPr b="1" sz="74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317" name="Google Shape;317;p18"/>
          <p:cNvGrpSpPr/>
          <p:nvPr/>
        </p:nvGrpSpPr>
        <p:grpSpPr>
          <a:xfrm>
            <a:off x="381000" y="3476625"/>
            <a:ext cx="8382000" cy="1047900"/>
            <a:chOff x="0" y="0"/>
            <a:chExt cx="8382000" cy="1047900"/>
          </a:xfrm>
        </p:grpSpPr>
        <p:sp>
          <p:nvSpPr>
            <p:cNvPr id="318" name="Google Shape;318;p18"/>
            <p:cNvSpPr/>
            <p:nvPr/>
          </p:nvSpPr>
          <p:spPr>
            <a:xfrm>
              <a:off x="0" y="0"/>
              <a:ext cx="8382000" cy="1047900"/>
            </a:xfrm>
            <a:prstGeom prst="roundRect">
              <a:avLst>
                <a:gd fmla="val 3636" name="adj"/>
              </a:avLst>
            </a:prstGeom>
            <a:solidFill>
              <a:srgbClr val="F8F9FA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8"/>
            <p:cNvSpPr txBox="1"/>
            <p:nvPr/>
          </p:nvSpPr>
          <p:spPr>
            <a:xfrm>
              <a:off x="142875" y="114300"/>
              <a:ext cx="8096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$</a:t>
              </a:r>
              <a:r>
                <a:rPr b="0" lang="en" sz="850">
                  <a:solidFill>
                    <a:srgbClr val="4D4D4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./nutanix-sync --verify-physical --scale-cluster --chaos-injection</a:t>
              </a:r>
              <a:endParaRPr b="0" sz="850">
                <a:solidFill>
                  <a:srgbClr val="4D4D4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[00:32:53.012] </a:t>
              </a:r>
              <a:r>
                <a:rPr b="1" lang="en" sz="8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[WATCHDOG]</a:t>
              </a:r>
              <a:r>
                <a:rPr b="0" lang="en" sz="85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Real-time hook: CREATE file "/replica_a/data_stream.db" [MUTATION INITIATED]</a:t>
              </a:r>
              <a:endParaRPr b="0" sz="85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[00:32:53.045] </a:t>
              </a:r>
              <a:r>
                <a:rPr b="1" lang="en" sz="8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[REPL_2NODE]</a:t>
              </a:r>
              <a:r>
                <a:rPr b="0" lang="en" sz="85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Synchronized replica_b/data_stream.db in </a:t>
              </a:r>
              <a:r>
                <a:rPr b="1" lang="en" sz="8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33ms</a:t>
              </a:r>
              <a:r>
                <a:rPr b="0" lang="en" sz="85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(under 50ms baseline) [OK]</a:t>
              </a:r>
              <a:endParaRPr b="0" sz="85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[00:32:53.150] </a:t>
              </a:r>
              <a:r>
                <a:rPr b="1" lang="en" sz="850">
                  <a:solidFill>
                    <a:srgbClr val="4EBE4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[SWIM_FAILURE]</a:t>
              </a:r>
              <a:r>
                <a:rPr b="0" lang="en" sz="85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Node_34 missed ping -&gt; Gossip vectors routing catch-up frames -&gt; Merkle verified [OK]</a:t>
              </a:r>
              <a:endParaRPr b="0" sz="850">
                <a:solidFill>
                  <a:srgbClr val="1A1A1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[00:32:53.210] [STATUS] Active Nodes: 52/52 | Cluster Consistency: 100% | Topology: Convergence Stable [OK]</a:t>
              </a:r>
              <a:endParaRPr b="1" sz="850">
                <a:solidFill>
                  <a:srgbClr val="2E8B2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320" name="Google Shape;320;p18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1" name="Google Shape;321;p18"/>
          <p:cNvGrpSpPr/>
          <p:nvPr/>
        </p:nvGrpSpPr>
        <p:grpSpPr>
          <a:xfrm>
            <a:off x="4807618" y="986339"/>
            <a:ext cx="4000500" cy="1820475"/>
            <a:chOff x="0" y="0"/>
            <a:chExt cx="4000500" cy="1820475"/>
          </a:xfrm>
        </p:grpSpPr>
        <p:sp>
          <p:nvSpPr>
            <p:cNvPr id="322" name="Google Shape;322;p18"/>
            <p:cNvSpPr txBox="1"/>
            <p:nvPr/>
          </p:nvSpPr>
          <p:spPr>
            <a:xfrm>
              <a:off x="0" y="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Scalable Cluster Telemetry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3" name="Google Shape;323;p18"/>
            <p:cNvSpPr txBox="1"/>
            <p:nvPr/>
          </p:nvSpPr>
          <p:spPr>
            <a:xfrm>
              <a:off x="0" y="285750"/>
              <a:ext cx="40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Orchestrates </a:t>
              </a: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50+ nodes</a:t>
              </a:r>
              <a:r>
                <a:rPr b="0" lang="en" sz="110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 using live HTML5 canvas to visualize gossip vectors. Injects chaos via node disconnection, SWIM failure detection, and auto catch-up.</a:t>
              </a:r>
              <a:endParaRPr b="0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4" name="Google Shape;324;p18"/>
            <p:cNvGrpSpPr/>
            <p:nvPr/>
          </p:nvGrpSpPr>
          <p:grpSpPr>
            <a:xfrm>
              <a:off x="228600" y="1057275"/>
              <a:ext cx="2619525" cy="763200"/>
              <a:chOff x="228600" y="-38100"/>
              <a:chExt cx="2619525" cy="763200"/>
            </a:xfrm>
          </p:grpSpPr>
          <p:sp>
            <p:nvSpPr>
              <p:cNvPr id="325" name="Google Shape;325;p18"/>
              <p:cNvSpPr/>
              <p:nvPr/>
            </p:nvSpPr>
            <p:spPr>
              <a:xfrm>
                <a:off x="228600" y="180975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8"/>
              <p:cNvSpPr txBox="1"/>
              <p:nvPr/>
            </p:nvSpPr>
            <p:spPr>
              <a:xfrm>
                <a:off x="238125" y="238125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N1</a:t>
                </a:r>
                <a:endParaRPr/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>
                <a:off x="1181100" y="-381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8"/>
              <p:cNvSpPr txBox="1"/>
              <p:nvPr/>
            </p:nvSpPr>
            <p:spPr>
              <a:xfrm>
                <a:off x="1190625" y="1905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N2</a:t>
                </a:r>
                <a:endParaRPr/>
              </a:p>
            </p:txBody>
          </p:sp>
          <p:sp>
            <p:nvSpPr>
              <p:cNvPr id="329" name="Google Shape;329;p18"/>
              <p:cNvSpPr/>
              <p:nvPr/>
            </p:nvSpPr>
            <p:spPr>
              <a:xfrm>
                <a:off x="1181100" y="40005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8"/>
              <p:cNvSpPr txBox="1"/>
              <p:nvPr/>
            </p:nvSpPr>
            <p:spPr>
              <a:xfrm>
                <a:off x="1190625" y="457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N3</a:t>
                </a:r>
                <a:endParaRPr/>
              </a:p>
            </p:txBody>
          </p:sp>
          <p:pic>
            <p:nvPicPr>
              <p:cNvPr id="331" name="Google Shape;331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486025" y="15240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18"/>
              <p:cNvSpPr txBox="1"/>
              <p:nvPr/>
            </p:nvSpPr>
            <p:spPr>
              <a:xfrm>
                <a:off x="2524125" y="238125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2E8B27"/>
                    </a:solidFill>
                    <a:latin typeface="Inter"/>
                    <a:ea typeface="Inter"/>
                    <a:cs typeface="Inter"/>
                    <a:sym typeface="Inter"/>
                  </a:rPr>
                  <a:t>N4</a:t>
                </a:r>
                <a:endParaRPr/>
              </a:p>
            </p:txBody>
          </p:sp>
          <p:cxnSp>
            <p:nvCxnSpPr>
              <p:cNvPr id="333" name="Google Shape;333;p18"/>
              <p:cNvCxnSpPr/>
              <p:nvPr/>
            </p:nvCxnSpPr>
            <p:spPr>
              <a:xfrm flipH="1" rot="10800000">
                <a:off x="533400" y="161850"/>
                <a:ext cx="64770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8"/>
              <p:cNvCxnSpPr/>
              <p:nvPr/>
            </p:nvCxnSpPr>
            <p:spPr>
              <a:xfrm>
                <a:off x="533400" y="381000"/>
                <a:ext cx="64770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8"/>
              <p:cNvCxnSpPr/>
              <p:nvPr/>
            </p:nvCxnSpPr>
            <p:spPr>
              <a:xfrm>
                <a:off x="1333500" y="266700"/>
                <a:ext cx="0" cy="13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pic>
            <p:nvPicPr>
              <p:cNvPr id="336" name="Google Shape;336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481138" y="152400"/>
                <a:ext cx="1028700" cy="142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7" name="Google Shape;337;p18"/>
              <p:cNvSpPr/>
              <p:nvPr/>
            </p:nvSpPr>
            <p:spPr>
              <a:xfrm>
                <a:off x="1485900" y="400050"/>
                <a:ext cx="1019100" cy="171600"/>
              </a:xfrm>
              <a:custGeom>
                <a:rect b="b" l="l" r="r" t="t"/>
                <a:pathLst>
                  <a:path extrusionOk="0" h="120000" w="120000">
                    <a:moveTo>
                      <a:pt x="0" y="73333"/>
                    </a:moveTo>
                    <a:quadBezTo>
                      <a:pt x="60561" y="12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2E8B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2409825" y="39052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120000" y="17143"/>
                    </a:moveTo>
                    <a:lnTo>
                      <a:pt x="0" y="0"/>
                    </a:lnTo>
                    <a:lnTo>
                      <a:pt x="60000" y="120000"/>
                    </a:lnTo>
                    <a:close/>
                  </a:path>
                </a:pathLst>
              </a:custGeom>
              <a:solidFill>
                <a:srgbClr val="2E8B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8"/>
              <p:cNvSpPr txBox="1"/>
              <p:nvPr/>
            </p:nvSpPr>
            <p:spPr>
              <a:xfrm>
                <a:off x="1571625" y="41910"/>
                <a:ext cx="7005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525">
                    <a:solidFill>
                      <a:srgbClr val="A0A0A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[SWIM PROBE FAIL]</a:t>
                </a:r>
                <a:endParaRPr b="0" sz="525">
                  <a:solidFill>
                    <a:srgbClr val="A0A0A0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340" name="Google Shape;340;p18"/>
              <p:cNvSpPr txBox="1"/>
              <p:nvPr/>
            </p:nvSpPr>
            <p:spPr>
              <a:xfrm>
                <a:off x="1666875" y="609600"/>
                <a:ext cx="662100" cy="1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63">
                    <a:solidFill>
                      <a:srgbClr val="2E8B2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[AUTO CATCH-UP]</a:t>
                </a:r>
                <a:endParaRPr b="1" sz="563">
                  <a:solidFill>
                    <a:srgbClr val="2E8B2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381000" y="285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Enterprise Alignment &amp; Verification</a:t>
            </a:r>
            <a:endParaRPr b="1" sz="2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7" name="Google Shape;347;p19"/>
          <p:cNvCxnSpPr/>
          <p:nvPr/>
        </p:nvCxnSpPr>
        <p:spPr>
          <a:xfrm>
            <a:off x="381000" y="9048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9"/>
          <p:cNvSpPr txBox="1"/>
          <p:nvPr/>
        </p:nvSpPr>
        <p:spPr>
          <a:xfrm>
            <a:off x="381000" y="1143000"/>
            <a:ext cx="2571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AOS &amp; Files Integration</a:t>
            </a:r>
            <a:endParaRPr b="1" sz="1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Seamlessly aligns with enterprise storage architectures to provide:</a:t>
            </a:r>
            <a:endParaRPr b="0" sz="1100">
              <a:solidFill>
                <a:srgbClr val="4D4D4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Hyperconverged storage resilience</a:t>
            </a:r>
            <a:endParaRPr b="0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Bandwidth-efficient replication</a:t>
            </a:r>
            <a:endParaRPr b="0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0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Edge-to-core synchronization</a:t>
            </a:r>
            <a:endParaRPr b="0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3286125" y="1143000"/>
            <a:ext cx="2571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4EBE46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4800">
              <a:solidFill>
                <a:srgbClr val="4EBE4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Automated Test Suites</a:t>
            </a:r>
            <a:endParaRPr b="1" sz="1000">
              <a:solidFill>
                <a:srgbClr val="4D4D4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Rigorously verified across unit logic, causal partial ordering, and 20-node scale convergence.</a:t>
            </a:r>
            <a:endParaRPr b="0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6191250" y="1143000"/>
            <a:ext cx="2571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Open Source Delivery</a:t>
            </a:r>
            <a:endParaRPr b="1" sz="1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entire synchronization engine is open source and available for academic review and production deployment.</a:t>
            </a:r>
            <a:endParaRPr b="0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GitHub Repository</a:t>
            </a:r>
            <a:endParaRPr b="1" sz="1000">
              <a:solidFill>
                <a:srgbClr val="4D4D4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8B27"/>
                </a:solidFill>
                <a:latin typeface="Roboto Mono"/>
                <a:ea typeface="Roboto Mono"/>
                <a:cs typeface="Roboto Mono"/>
                <a:sym typeface="Roboto Mono"/>
              </a:rPr>
              <a:t>hskad/nutanix-sync</a:t>
            </a:r>
            <a:endParaRPr b="1" sz="1200">
              <a:solidFill>
                <a:srgbClr val="2E8B2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351" name="Google Shape;351;p19"/>
          <p:cNvGrpSpPr/>
          <p:nvPr/>
        </p:nvGrpSpPr>
        <p:grpSpPr>
          <a:xfrm>
            <a:off x="381000" y="3190875"/>
            <a:ext cx="8382150" cy="1047900"/>
            <a:chOff x="0" y="0"/>
            <a:chExt cx="8382150" cy="1047900"/>
          </a:xfrm>
        </p:grpSpPr>
        <p:sp>
          <p:nvSpPr>
            <p:cNvPr id="352" name="Google Shape;352;p19"/>
            <p:cNvSpPr/>
            <p:nvPr/>
          </p:nvSpPr>
          <p:spPr>
            <a:xfrm>
              <a:off x="0" y="0"/>
              <a:ext cx="57300" cy="1047900"/>
            </a:xfrm>
            <a:prstGeom prst="rect">
              <a:avLst/>
            </a:prstGeom>
            <a:solidFill>
              <a:srgbClr val="4EBE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9"/>
            <p:cNvSpPr txBox="1"/>
            <p:nvPr/>
          </p:nvSpPr>
          <p:spPr>
            <a:xfrm>
              <a:off x="285750" y="0"/>
              <a:ext cx="809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"Nutanix-Sync: Hyperconverged file resilience with enterprise performance."</a:t>
              </a:r>
              <a:endParaRPr b="0" i="1" sz="18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cxnSp>
        <p:nvCxnSpPr>
          <p:cNvPr id="354" name="Google Shape;354;p19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"/>
          <p:cNvSpPr txBox="1"/>
          <p:nvPr/>
        </p:nvSpPr>
        <p:spPr>
          <a:xfrm>
            <a:off x="2765650" y="2047800"/>
            <a:ext cx="4000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4EBE46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0"/>
          <p:cNvSpPr/>
          <p:nvPr/>
        </p:nvSpPr>
        <p:spPr>
          <a:xfrm rot="-5400000">
            <a:off x="6012886" y="2292859"/>
            <a:ext cx="48600" cy="1130100"/>
          </a:xfrm>
          <a:prstGeom prst="rect">
            <a:avLst/>
          </a:prstGeom>
          <a:solidFill>
            <a:srgbClr val="4EBE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 rot="-5400000">
            <a:off x="3001612" y="1458450"/>
            <a:ext cx="48600" cy="1130100"/>
          </a:xfrm>
          <a:prstGeom prst="rect">
            <a:avLst/>
          </a:prstGeom>
          <a:solidFill>
            <a:srgbClr val="4EBE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